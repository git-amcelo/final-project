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0" i="0" spc="1000">
                <a:solidFill>
                  <a:srgbClr val="191919"/>
                </a:solidFill>
                <a:latin typeface="Century Gothic"/>
              </a:rPr>
              <a:t>GYMBUDDY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spc="200">
                <a:solidFill>
                  <a:srgbClr val="E24C39"/>
                </a:solidFill>
                <a:latin typeface="Century Gothic"/>
              </a:rPr>
              <a:t>FIND YOUR FITNESS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91919"/>
                </a:solidFill>
                <a:latin typeface="Century Gothic"/>
              </a:rPr>
              <a:t>Final Project Presentation — COMP-8347: Internet Applications and Distributed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91919"/>
                </a:solidFill>
                <a:latin typeface="Century Gothic"/>
              </a:rPr>
              <a:t>Group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02352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5748"/>
                </a:solidFill>
                <a:latin typeface="Century Gothic"/>
              </a:rPr>
              <a:t>Chen, Mingran  |  Shaukat, Abdullah  |  Singh, Harpreet  |  Thakur, Chetan  |  Zhang, Yarong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5748"/>
                </a:solidFill>
                <a:latin typeface="Century Gothic"/>
              </a:rPr>
              <a:t>July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91919"/>
                </a:solidFill>
                <a:latin typeface="Century Gothic"/>
              </a:rPr>
              <a:t>Problem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"/>
          </a:xfrm>
          <a:prstGeom prst="rect">
            <a:avLst/>
          </a:prstGeom>
          <a:solidFill>
            <a:srgbClr val="E2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126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60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600" b="1">
                <a:solidFill>
                  <a:srgbClr val="191919"/>
                </a:solidFill>
                <a:latin typeface="Century Gothic"/>
              </a:rPr>
              <a:t>Motivation Gap: </a:t>
            </a:r>
            <a:r>
              <a:rPr sz="1600">
                <a:solidFill>
                  <a:srgbClr val="191919"/>
                </a:solidFill>
                <a:latin typeface="Century Gothic"/>
              </a:rPr>
              <a:t>Many students struggle with consistency when training alone.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60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600" b="1">
                <a:solidFill>
                  <a:srgbClr val="191919"/>
                </a:solidFill>
                <a:latin typeface="Century Gothic"/>
              </a:rPr>
              <a:t>Sync Hurdles: </a:t>
            </a:r>
            <a:r>
              <a:rPr sz="1600">
                <a:solidFill>
                  <a:srgbClr val="191919"/>
                </a:solidFill>
                <a:latin typeface="Century Gothic"/>
              </a:rPr>
              <a:t>Hard to find peers with a similar fitness level and a matching schedule.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60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600" b="1">
                <a:solidFill>
                  <a:srgbClr val="191919"/>
                </a:solidFill>
                <a:latin typeface="Century Gothic"/>
              </a:rPr>
              <a:t>Isolation: </a:t>
            </a:r>
            <a:r>
              <a:rPr sz="1600">
                <a:solidFill>
                  <a:srgbClr val="191919"/>
                </a:solidFill>
                <a:latin typeface="Century Gothic"/>
              </a:rPr>
              <a:t>Especially difficult for new students to integrate into campus gym life.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60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600" b="1">
                <a:solidFill>
                  <a:srgbClr val="191919"/>
                </a:solidFill>
                <a:latin typeface="Century Gothic"/>
              </a:rPr>
              <a:t>Specialized Needs: </a:t>
            </a:r>
            <a:r>
              <a:rPr sz="1600">
                <a:solidFill>
                  <a:srgbClr val="191919"/>
                </a:solidFill>
                <a:latin typeface="Century Gothic"/>
              </a:rPr>
              <a:t>Difficulty finding partners for specific needs (gender preference, niche sports).</a:t>
            </a:r>
          </a:p>
        </p:txBody>
      </p:sp>
      <p:pic>
        <p:nvPicPr>
          <p:cNvPr id="7" name="Picture 6" descr="out-002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00200"/>
            <a:ext cx="4480560" cy="4343400"/>
          </a:xfrm>
          <a:prstGeom prst="roundRect">
            <a:avLst>
              <a:gd name="adj" fmla="val 6000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GymBuddy | Group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91919"/>
                </a:solidFill>
                <a:latin typeface="Century Gothic"/>
              </a:rPr>
              <a:t>Our Solution —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"/>
          </a:xfrm>
          <a:prstGeom prst="rect">
            <a:avLst/>
          </a:prstGeom>
          <a:solidFill>
            <a:srgbClr val="E2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ut-003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4754880" cy="429768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5669280" y="1828800"/>
            <a:ext cx="5943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91919"/>
                </a:solidFill>
                <a:latin typeface="Century Gothic"/>
              </a:rPr>
              <a:t>Building Confidence Through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246120"/>
            <a:ext cx="5943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5748"/>
                </a:solidFill>
                <a:latin typeface="Century Gothic"/>
              </a:rPr>
              <a:t>GymBuddy connects Windsor students and alumni through a full-stack web platform: a server-rendered Django + Bootstrap site with session auth, plus an optional Next.js client talking to the same JWT-secured REST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8920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24C39"/>
                </a:solidFill>
                <a:latin typeface="Century Gothic"/>
              </a:rPr>
              <a:t>Accountability. Connection. Consistency.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GymBuddy | Group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91919"/>
                </a:solidFill>
                <a:latin typeface="Century Gothic"/>
              </a:rPr>
              <a:t>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"/>
          </a:xfrm>
          <a:prstGeom prst="rect">
            <a:avLst/>
          </a:prstGeom>
          <a:solidFill>
            <a:srgbClr val="E2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C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511296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E24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013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4C39"/>
                </a:solidFill>
                <a:latin typeface="Century Gothic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1343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1919"/>
                </a:solidFill>
                <a:latin typeface="Century Gothic"/>
              </a:rPr>
              <a:t>Smart Profiles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79191"/>
            <a:ext cx="306324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5748"/>
                </a:solidFill>
                <a:latin typeface="Century Gothic"/>
              </a:rPr>
              <a:t>Photo uploads, fitness level, goals and weekly availability on every member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002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C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3511296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E24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8013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4C39"/>
                </a:solidFill>
                <a:latin typeface="Century Gothic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31343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1919"/>
                </a:solidFill>
                <a:latin typeface="Century Gothic"/>
              </a:rPr>
              <a:t>Buddy Search &amp;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679191"/>
            <a:ext cx="306324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5748"/>
                </a:solidFill>
                <a:latin typeface="Century Gothic"/>
              </a:rPr>
              <a:t>Keyword search plus a fitness-level dropdown filter in the navbar, on every list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6002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C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3" y="3511296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E24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1801368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4C39"/>
                </a:solidFill>
                <a:latin typeface="Century Gothic"/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31343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1919"/>
                </a:solidFill>
                <a:latin typeface="Century Gothic"/>
              </a:rPr>
              <a:t>Workout 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679191"/>
            <a:ext cx="306324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5748"/>
                </a:solidFill>
                <a:latin typeface="Century Gothic"/>
              </a:rPr>
              <a:t>Create, request-to-join and manage 1-on-1 or group sessions with accept/reject 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22191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C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733288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E24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02335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4C39"/>
                </a:solidFill>
                <a:latin typeface="Century Gothic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3542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1919"/>
                </a:solidFill>
                <a:latin typeface="Century Gothic"/>
              </a:rPr>
              <a:t>Public Ratings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901183"/>
            <a:ext cx="306324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5748"/>
                </a:solidFill>
                <a:latin typeface="Century Gothic"/>
              </a:rPr>
              <a:t>1–5 star community rating system, recalculated live and shown on profiles.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3822191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C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5112" y="5733288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E24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402335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4C39"/>
                </a:solidFill>
                <a:latin typeface="Century Gothic"/>
              </a:rP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453542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1919"/>
                </a:solidFill>
                <a:latin typeface="Century Gothic"/>
              </a:rPr>
              <a:t>Fitness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4901183"/>
            <a:ext cx="306324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5748"/>
                </a:solidFill>
                <a:latin typeface="Century Gothic"/>
              </a:rPr>
              <a:t>Create or join campus micro-communities that meet on a recurring schedule.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3822191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EC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01583" y="5733288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E24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5" y="4023359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4C39"/>
                </a:solidFill>
                <a:latin typeface="Century Gothic"/>
              </a:rPr>
              <a:t>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5" y="453542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91919"/>
                </a:solidFill>
                <a:latin typeface="Century Gothic"/>
              </a:rPr>
              <a:t>Session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4901183"/>
            <a:ext cx="306324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5748"/>
                </a:solidFill>
                <a:latin typeface="Century Gothic"/>
              </a:rPr>
              <a:t>Middleware-tracked visit counts, recent pages and a last_visit cookie — no account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GymBuddy | Group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91919"/>
                </a:solidFill>
                <a:latin typeface="Century Gothic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"/>
          </a:xfrm>
          <a:prstGeom prst="rect">
            <a:avLst/>
          </a:prstGeom>
          <a:solidFill>
            <a:srgbClr val="E2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3858768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2743200"/>
                <a:gridCol w="6766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Layer</a:t>
                      </a:r>
                    </a:p>
                  </a:txBody>
                  <a:tcPr marL="109728" marT="36576" marB="36576" anchor="ctr">
                    <a:solidFill>
                      <a:srgbClr val="E24C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Technology</a:t>
                      </a:r>
                    </a:p>
                  </a:txBody>
                  <a:tcPr marL="109728" marT="36576" marB="36576" anchor="ctr">
                    <a:solidFill>
                      <a:srgbClr val="E24C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Implementation Highlights</a:t>
                      </a:r>
                    </a:p>
                  </a:txBody>
                  <a:tcPr marL="109728" marT="36576" marB="36576" anchor="ctr">
                    <a:solidFill>
                      <a:srgbClr val="E24C3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Backend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Django 5.2 + DRF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Models, forms, class-based views, session auth, JWT API for the SPA client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Template Site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Django Templates + Bootstrap 5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Server-rendered pages, responsive navbar/footer, ModelForms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Frontend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Next.js 14 (App Router)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Optional richer client consuming the same DRF API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Database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SQLite (dev) / PostgreSQL-ready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Relational storage for users, sessions, groups, ratings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Auth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Django session auth + JWT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Login/logout/forgot-password on the site; token auth for the API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Media Storage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Local filesystem (media/)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Profile pictures and group images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5748"/>
                </a:solidFill>
                <a:latin typeface="Century Gothic"/>
              </a:rPr>
              <a:t>Two interfaces, one API: the Django site and the Next.js client both run against the same DRF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GymBuddy | Group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91919"/>
                </a:solidFill>
                <a:latin typeface="Century Gothic"/>
              </a:rPr>
              <a:t>Mandatory Requirements —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"/>
          </a:xfrm>
          <a:prstGeom prst="rect">
            <a:avLst/>
          </a:prstGeom>
          <a:solidFill>
            <a:srgbClr val="E2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4992624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790956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Requirement</a:t>
                      </a:r>
                    </a:p>
                  </a:txBody>
                  <a:tcPr marL="109728" marT="36576" marB="36576" anchor="ctr">
                    <a:solidFill>
                      <a:srgbClr val="E24C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Where It Lives</a:t>
                      </a:r>
                    </a:p>
                  </a:txBody>
                  <a:tcPr marL="109728" marT="36576" marB="36576" anchor="ctr">
                    <a:solidFill>
                      <a:srgbClr val="E24C3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Auth (login/logout/forgot pw)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gymbuddy/urls.py, apps/users/forms.py, templates/registration/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Forms, models, full CRUD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apps/*/forms.py, apps/*/models.py — sessions &amp; groups support create/read/update/delete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Sessions &amp; cookies (History)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gymbuddy/middleware.py (VisitHistoryMiddleware), users/history.html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Search + dropdown filter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Navbar search in base.html; SessionSearchForm, GroupSearchForm, MemberSearchForm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File upload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ProfileForm (profile picture), GroupForm (group image) — stored under media/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Registered vs. guest interface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@login_required / LoginRequiredMixin; guest pages stay open (home, about, lists)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Class-based index/detail views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SessionListView/DetailView, GroupListView/DetailView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Bootstrap styling + footer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static/vendor/bootstrap/, static/css/site.css, base.html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JSON fixtures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apps/*/fixtures/initial_data.json, loaded via manage.py loaddata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91919"/>
                          </a:solidFill>
                          <a:latin typeface="Century Gothic"/>
                        </a:rPr>
                        <a:t>Minimal API use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91919"/>
                          </a:solidFill>
                          <a:latin typeface="Century Gothic"/>
                        </a:rPr>
                        <a:t>Only the project's own DRF API (for the Next.js client) — no third-party APIs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GymBuddy | Group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91919"/>
                </a:solidFill>
                <a:latin typeface="Century Gothic"/>
              </a:rPr>
              <a:t>Testing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"/>
          </a:xfrm>
          <a:prstGeom prst="rect">
            <a:avLst/>
          </a:prstGeom>
          <a:solidFill>
            <a:srgbClr val="E2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383280" cy="4343400"/>
          </a:xfrm>
          <a:prstGeom prst="roundRect">
            <a:avLst>
              <a:gd name="adj" fmla="val 6000"/>
            </a:avLst>
          </a:prstGeom>
          <a:solidFill>
            <a:srgbClr val="E24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entury Gothic"/>
              </a:rPr>
              <a:t>34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entury Gothic"/>
              </a:rPr>
              <a:t>automated checks</a:t>
            </a:r>
          </a:p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entury Gothic"/>
              </a:rPr>
              <a:t>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2834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Century Gothic"/>
              </a:rPr>
              <a:t>End-to-end smoke test against the real database and templates, covering every mandatory feature.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691640"/>
            <a:ext cx="7223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35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350" b="1">
                <a:solidFill>
                  <a:srgbClr val="191919"/>
                </a:solidFill>
                <a:latin typeface="Century Gothic"/>
              </a:rPr>
              <a:t>Guest access: </a:t>
            </a:r>
            <a:r>
              <a:rPr sz="1350">
                <a:solidFill>
                  <a:srgbClr val="191919"/>
                </a:solidFill>
                <a:latin typeface="Century Gothic"/>
              </a:rPr>
              <a:t>member-only pages correctly redirect to login.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35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350" b="1">
                <a:solidFill>
                  <a:srgbClr val="191919"/>
                </a:solidFill>
                <a:latin typeface="Century Gothic"/>
              </a:rPr>
              <a:t>Registration &amp; login: </a:t>
            </a:r>
            <a:r>
              <a:rPr sz="1350">
                <a:solidFill>
                  <a:srgbClr val="191919"/>
                </a:solidFill>
                <a:latin typeface="Century Gothic"/>
              </a:rPr>
              <a:t>wrong password rejected; correct password succeeds.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35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350" b="1">
                <a:solidFill>
                  <a:srgbClr val="191919"/>
                </a:solidFill>
                <a:latin typeface="Century Gothic"/>
              </a:rPr>
              <a:t>Profile &amp; upload: </a:t>
            </a:r>
            <a:r>
              <a:rPr sz="1350">
                <a:solidFill>
                  <a:srgbClr val="191919"/>
                </a:solidFill>
                <a:latin typeface="Century Gothic"/>
              </a:rPr>
              <a:t>bio and profile picture both persist to media/.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35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350" b="1">
                <a:solidFill>
                  <a:srgbClr val="191919"/>
                </a:solidFill>
                <a:latin typeface="Century Gothic"/>
              </a:rPr>
              <a:t>Sessions: </a:t>
            </a:r>
            <a:r>
              <a:rPr sz="1350">
                <a:solidFill>
                  <a:srgbClr val="191919"/>
                </a:solidFill>
                <a:latin typeface="Century Gothic"/>
              </a:rPr>
              <a:t>creation, keyword + intensity search, and zero-result search all verified.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35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350" b="1">
                <a:solidFill>
                  <a:srgbClr val="191919"/>
                </a:solidFill>
                <a:latin typeface="Century Gothic"/>
              </a:rPr>
              <a:t>Groups: </a:t>
            </a:r>
            <a:r>
              <a:rPr sz="1350">
                <a:solidFill>
                  <a:srgbClr val="191919"/>
                </a:solidFill>
                <a:latin typeface="Century Gothic"/>
              </a:rPr>
              <a:t>unique slug on create; a second member can join and becomes active.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35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350" b="1">
                <a:solidFill>
                  <a:srgbClr val="191919"/>
                </a:solidFill>
                <a:latin typeface="Century Gothic"/>
              </a:rPr>
              <a:t>Ratings: </a:t>
            </a:r>
            <a:r>
              <a:rPr sz="1350">
                <a:solidFill>
                  <a:srgbClr val="191919"/>
                </a:solidFill>
                <a:latin typeface="Century Gothic"/>
              </a:rPr>
              <a:t>submitting a rating recalculates the recipient's average_rating.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35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350" b="1">
                <a:solidFill>
                  <a:srgbClr val="191919"/>
                </a:solidFill>
                <a:latin typeface="Century Gothic"/>
              </a:rPr>
              <a:t>History: </a:t>
            </a:r>
            <a:r>
              <a:rPr sz="1350">
                <a:solidFill>
                  <a:srgbClr val="191919"/>
                </a:solidFill>
                <a:latin typeface="Century Gothic"/>
              </a:rPr>
              <a:t>visit count, recent pages and last_visit cookie all update correctly.</a:t>
            </a:r>
          </a:p>
          <a:p>
            <a:pPr>
              <a:lnSpc>
                <a:spcPct val="108000"/>
              </a:lnSpc>
              <a:spcAft>
                <a:spcPts val="1008"/>
              </a:spcAft>
            </a:pPr>
            <a:r>
              <a:rPr sz="1350" b="1">
                <a:solidFill>
                  <a:srgbClr val="E24C39"/>
                </a:solidFill>
                <a:latin typeface="Century Gothic"/>
              </a:rPr>
              <a:t>●  </a:t>
            </a:r>
            <a:r>
              <a:rPr sz="1350" b="1">
                <a:solidFill>
                  <a:srgbClr val="191919"/>
                </a:solidFill>
                <a:latin typeface="Century Gothic"/>
              </a:rPr>
              <a:t>Password reset: </a:t>
            </a:r>
            <a:r>
              <a:rPr sz="1350">
                <a:solidFill>
                  <a:srgbClr val="191919"/>
                </a:solidFill>
                <a:latin typeface="Century Gothic"/>
              </a:rPr>
              <a:t>full request → email → confirm → complete flow verified end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GymBuddy | Group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91919"/>
                </a:solidFill>
                <a:latin typeface="Century Gothic"/>
              </a:rPr>
              <a:t>Product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"/>
          </a:xfrm>
          <a:prstGeom prst="rect">
            <a:avLst/>
          </a:prstGeom>
          <a:solidFill>
            <a:srgbClr val="E2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5440680" cy="2148840"/>
          </a:xfrm>
          <a:prstGeom prst="roundRect">
            <a:avLst>
              <a:gd name="adj" fmla="val 4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85032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B5748"/>
                </a:solidFill>
                <a:latin typeface="Century Gothic"/>
              </a:rPr>
              <a:t>Guest home — live stats &amp; upcoming sessions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440680" cy="2148840"/>
          </a:xfrm>
          <a:prstGeom prst="roundRect">
            <a:avLst>
              <a:gd name="adj" fmla="val 4000"/>
            </a:avLst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685032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B5748"/>
                </a:solidFill>
                <a:latin typeface="Century Gothic"/>
              </a:rPr>
              <a:t>Member home — signed-in navbar</a:t>
            </a:r>
          </a:p>
        </p:txBody>
      </p:sp>
      <p:pic>
        <p:nvPicPr>
          <p:cNvPr id="10" name="Picture 9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5440680" cy="2148840"/>
          </a:xfrm>
          <a:prstGeom prst="roundRect">
            <a:avLst>
              <a:gd name="adj" fmla="val 4000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245352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B5748"/>
                </a:solidFill>
                <a:latin typeface="Century Gothic"/>
              </a:rPr>
              <a:t>Buddy directory — keyword + level search</a:t>
            </a:r>
          </a:p>
        </p:txBody>
      </p:sp>
      <p:pic>
        <p:nvPicPr>
          <p:cNvPr id="12" name="Picture 11" descr="image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69080"/>
            <a:ext cx="5440680" cy="2148840"/>
          </a:xfrm>
          <a:prstGeom prst="roundRect">
            <a:avLst>
              <a:gd name="adj" fmla="val 4000"/>
            </a:avLst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6245352"/>
            <a:ext cx="5440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B5748"/>
                </a:solidFill>
                <a:latin typeface="Century Gothic"/>
              </a:rPr>
              <a:t>History — sessions &amp; cookies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GymBuddy | Group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3291840" cy="3291840"/>
          </a:xfrm>
          <a:prstGeom prst="ellipse">
            <a:avLst/>
          </a:prstGeom>
          <a:solidFill>
            <a:srgbClr val="E24C3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noFill/>
          <a:ln w="12700">
            <a:solidFill>
              <a:srgbClr val="E24C39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91919"/>
                </a:solidFill>
                <a:latin typeface="Century Gothic"/>
              </a:rPr>
              <a:t>Team Roles &amp;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"/>
          </a:xfrm>
          <a:prstGeom prst="rect">
            <a:avLst/>
          </a:prstGeom>
          <a:solidFill>
            <a:srgbClr val="E24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306824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2468880"/>
                <a:gridCol w="676656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Member</a:t>
                      </a:r>
                    </a:p>
                  </a:txBody>
                  <a:tcPr marL="109728" marT="36576" marB="36576" anchor="ctr">
                    <a:solidFill>
                      <a:srgbClr val="E24C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Primary Role</a:t>
                      </a:r>
                    </a:p>
                  </a:txBody>
                  <a:tcPr marL="109728" marT="36576" marB="36576" anchor="ctr">
                    <a:solidFill>
                      <a:srgbClr val="E24C3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entury Gothic"/>
                        </a:rPr>
                        <a:t>Contribution</a:t>
                      </a:r>
                    </a:p>
                  </a:txBody>
                  <a:tcPr marL="109728" marT="36576" marB="36576" anchor="ctr">
                    <a:solidFill>
                      <a:srgbClr val="E24C3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Thakur, Chetan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Project Integration &amp; Architecture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Settings/URLs, base.html + navbar/footer, home/about/contact, VisitHistoryMiddleware, fixtures, E2E testing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Chen, Mingran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Django Backend (Workouts)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WorkoutSession model, WorkoutSessionForm/SessionSearchForm, class-based session views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Shaukat, Abdullah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Auth &amp; Users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Custom User/UserProfile models, SignUpForm/ProfileForm, profile &amp; buddy directory views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Singh, Harpreet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Frontend UI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Next.js/Tailwind client consuming the DRF API; UI styling support for the template site</a:t>
                      </a:r>
                    </a:p>
                  </a:txBody>
                  <a:tcPr marL="109728" marT="27432" marB="27432" anchor="ctr">
                    <a:solidFill>
                      <a:srgbClr val="FBF7E7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91919"/>
                          </a:solidFill>
                          <a:latin typeface="Century Gothic"/>
                        </a:rPr>
                        <a:t>Zhang, Yarong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Groups &amp; Ratings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91919"/>
                          </a:solidFill>
                          <a:latin typeface="Century Gothic"/>
                        </a:rPr>
                        <a:t>WorkoutGroup model, GroupForm + GroupSearchForm, join/leave logic, RatingForm &amp; views</a:t>
                      </a:r>
                    </a:p>
                  </a:txBody>
                  <a:tcPr marL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4757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748"/>
                </a:solidFill>
                <a:latin typeface="Century Gothic"/>
              </a:rPr>
              <a:t>GymBuddy | Group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4C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4572000"/>
            <a:ext cx="3108960" cy="3108960"/>
          </a:xfrm>
          <a:prstGeom prst="ellipse">
            <a:avLst/>
          </a:prstGeom>
          <a:noFill/>
          <a:ln w="12700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 i="0" spc="1000">
                <a:solidFill>
                  <a:srgbClr val="FFFFFF"/>
                </a:solidFill>
                <a:latin typeface="Century Gothic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entury Gothic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91919"/>
                </a:solidFill>
                <a:latin typeface="Century Gothic"/>
              </a:rPr>
              <a:t>Group 15 |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1A10"/>
                </a:solidFill>
                <a:latin typeface="Century Gothic"/>
              </a:rPr>
              <a:t>University of Windsor | GymBuddy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entury Gothic"/>
              </a:rPr>
              <a:t>github.com/git-amcelo/Final-Project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